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ac7a0818-e564-38d5-e81e-1e7e67e840b1}">
          <p14:sldIdLst>
            <p14:sldId id="256"/>
          </p14:sldIdLst>
        </p14:section>
        <p14:section name="Qué trae" id="{291be22a-3a40-7ce2-b81c-4f0f9e4793de}">
          <p14:sldIdLst>
            <p14:sldId id="257"/>
            <p14:sldId id="258"/>
          </p14:sldIdLst>
        </p14:section>
        <p14:section name="Precio estimado" id="{b05f0a13-7411-138a-0d81-1474fc65316f}">
          <p14:sldIdLst>
            <p14:sldId id="259"/>
            <p14:sldId id="260"/>
          </p14:sldIdLst>
        </p14:section>
        <p14:section name="Dos opciones nuevas" id="{50e7c18e-ae9d-8327-14e4-8f53f8a4afbd}">
          <p14:sldIdLst>
            <p14:sldId id="261"/>
            <p14:sldId id="262"/>
          </p14:sldIdLst>
        </p14:section>
        <p14:section name="La diferencia" id="{da7e9332-ac1c-66fa-514a-d5eaa0bb6196}">
          <p14:sldIdLst>
            <p14:sldId id="263"/>
            <p14:sldId id="264"/>
            <p14:sldId id="265"/>
          </p14:sldIdLst>
        </p14:section>
        <p14:section name="Costos y tiempos" id="{34060b93-a9b9-3340-5c02-e0e53b698446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ierre" id="{ffca145f-cbba-0126-b7c8-fe8af166c04a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E5A7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E5A73"/>
                </a:solidFill>
                <a:latin typeface="+mn-lt"/>
              </a:rPr>
              <a:t>Lo cobrado, acumulado (USD)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Precio estimado</c:v>
                </c:pt>
              </c:strCache>
            </c:strRef>
          </c:tx>
          <c:spPr>
            <a:solidFill>
              <a:srgbClr val="0E1752"/>
            </a:solidFill>
            <a:ln w="31750" cap="flat">
              <a:solidFill>
                <a:srgbClr val="0E17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1752"/>
              </a:solidFill>
              <a:ln w="9525" cap="flat">
                <a:solidFill>
                  <a:srgbClr val="0E17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1350</c:v>
                </c:pt>
                <c:pt idx="1">
                  <c:v>2130</c:v>
                </c:pt>
                <c:pt idx="2">
                  <c:v>2910</c:v>
                </c:pt>
                <c:pt idx="3">
                  <c:v>3690</c:v>
                </c:pt>
                <c:pt idx="4">
                  <c:v>4470</c:v>
                </c:pt>
                <c:pt idx="5">
                  <c:v>5250</c:v>
                </c:pt>
                <c:pt idx="6">
                  <c:v>6030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Opción A</c:v>
                </c:pt>
              </c:strCache>
            </c:strRef>
          </c:tx>
          <c:spPr>
            <a:solidFill>
              <a:srgbClr val="2A30D6"/>
            </a:solidFill>
            <a:ln w="31750" cap="flat">
              <a:solidFill>
                <a:srgbClr val="2A30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30D6"/>
              </a:solidFill>
              <a:ln w="9525" cap="flat">
                <a:solidFill>
                  <a:srgbClr val="2A30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540</c:v>
                </c:pt>
                <c:pt idx="2">
                  <c:v>1080</c:v>
                </c:pt>
                <c:pt idx="3">
                  <c:v>1620</c:v>
                </c:pt>
                <c:pt idx="4">
                  <c:v>2160</c:v>
                </c:pt>
                <c:pt idx="5">
                  <c:v>2700</c:v>
                </c:pt>
                <c:pt idx="6">
                  <c:v>3240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Opción B</c:v>
                </c:pt>
              </c:strCache>
            </c:strRef>
          </c:tx>
          <c:spPr>
            <a:solidFill>
              <a:srgbClr val="D98E04"/>
            </a:solidFill>
            <a:ln w="3175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550</c:v>
                </c:pt>
                <c:pt idx="1">
                  <c:v>725</c:v>
                </c:pt>
                <c:pt idx="2">
                  <c:v>935</c:v>
                </c:pt>
                <c:pt idx="3">
                  <c:v>1145</c:v>
                </c:pt>
                <c:pt idx="4">
                  <c:v>1355</c:v>
                </c:pt>
                <c:pt idx="5">
                  <c:v>1565</c:v>
                </c:pt>
                <c:pt idx="6">
                  <c:v>1775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7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E5A7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E5A73"/>
                </a:solidFill>
                <a:latin typeface="+mn-lt"/>
              </a:rPr>
              <a:t>Mensualidad menos costo en efectivo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 plan gratis ($21)</c:v>
                </c:pt>
              </c:strCache>
            </c:strRef>
          </c:tx>
          <c:spPr>
            <a:solidFill>
              <a:srgbClr val="00B8BC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8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Precio estimado ($130)</c:v>
                  </c:pt>
                  <c:pt idx="1">
                    <c:v>Opción A ($90)</c:v>
                  </c:pt>
                  <c:pt idx="2">
                    <c:v>Opción B ($35)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</c:v>
                </c:pt>
                <c:pt idx="1">
                  <c:v>69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respaldo diario ($46)</c:v>
                </c:pt>
              </c:strCache>
            </c:strRef>
          </c:tx>
          <c:spPr>
            <a:solidFill>
              <a:srgbClr val="0E1752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8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Precio estimado ($130)</c:v>
                  </c:pt>
                  <c:pt idx="1">
                    <c:v>Opción A ($90)</c:v>
                  </c:pt>
                  <c:pt idx="2">
                    <c:v>Opción B ($35)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84</c:v>
                </c:pt>
                <c:pt idx="1">
                  <c:v>44</c:v>
                </c:pt>
                <c:pt idx="2">
                  <c:v>-11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8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7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Farmacia según la propuesta del 27-10-2026 (fase 1 $500, fase 2 $250 juntas; $45 al mes que pasan a $60 con la fase 2). El cálculo usa $60 los 12 meses y no descuenta el primer mes gratis de la farmacia. Laboratorio: $600 y $50 al mes. CrossFit: instalación regalada (vale $300) y $20 al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Supuesto: el CrossFit va gratis en las dos opciones, sin instalación y sin mensualidad. Opción A: $90 al mes por 12 meses. Opción B: $550 de instalación y $35 al mes, con el primer mes gratis (11 mensualidades el primer año).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Costos en efectivo: Vercel Pro $20 + dominio ≈ $1; base de datos en plan gratis ($0) o Pro ($25) con respaldo diario. Tiempo: 3 h de soporte por semana más unas 6 h de cambios del SENIAT cada 3 meses ≈ 14 h al mes. Horas de construcción y valor de $10 por hora: estimados.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</a:rPr>
              <a:t>Grupo Azullab · Precios de Cuadre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Precios de Cuadre para el Grupo Azullab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Farmacia, Laboratorio y CrossFit · alcance, costos, tiempos y formas de pago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Josedaniel Guerrero · 28-10-2026 · precios en dólares, sin impuestos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Qué trae cada sistema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con escáner, pagos mixtos y Cashea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Impresora fiscal: Reporte X y Z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por lote y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ganancias, bancos e ISLR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del SENIAT y tasa BCV sola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73552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371600"/>
            <a:ext cx="384048" cy="384048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05072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paciente y atención sin cita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por tubo y sala de toma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con valores fuera de rango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firmado con QR por WhatsApp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fiscal, libros y checklist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9904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18504" y="1371600"/>
            <a:ext cx="384048" cy="384048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21424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CrossFit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Pizarra del día con cada movimiento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 socio: reserva y resultados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Membresías con aviso de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con factura e IVA de 16 %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con cédula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grupo paga aparte, no a Cuadre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017520" cy="3383280"/>
          </a:xfrm>
          <a:prstGeom prst="roundRect">
            <a:avLst>
              <a:gd name="adj" fmla="val 2424"/>
            </a:avLst>
          </a:prstGeom>
          <a:solidFill>
            <a:srgbClr val="0E1752"/>
          </a:solidFill>
          <a:ln w="12700">
            <a:solidFill>
              <a:srgbClr val="0E17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$2.100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impresoras fiscales, una por RIF, a unos $700 cada una (precio de referencia: cotizar con el distribuidor en Mérida)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compran una sola vez. No se paga nada por cada factura.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12618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 o mini PC por caja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14813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Farmacia, Atención del laboratorio y recepción del box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94760" y="19476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94760" y="1947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8745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de código de barras y gaveta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21671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caja de la farmacia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94760" y="26334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5603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por caja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28529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luz falla en La Azulita; protege la impresora fiscal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94760" y="33192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947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2461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con respaldo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51960" y="35387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conexión principal y datos móviles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794760" y="40050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947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931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y rollos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2245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de imprenta para fallas, papel térmico y servicio técnico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 · El precio estimado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Instalación por sistema y mensualidad por sistema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Precio estimado: $2.910 el primer año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0584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1 $500 + fase 2 $250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$300: regalo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72200" y="1325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$2.910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año: instalación más 12 mensualidades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29260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$1.560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840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desde el segundo: solo mensualidades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 · Dos opciones nuevas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Sin pago inicial o con pago inicial; el CrossFit va gratis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Opción A sin pago inicial, opción B con pago inicial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pago inicial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al mes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al mes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$1.080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compromiso anual: 12 meses seguidos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pago inicial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farmacia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laboratorio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Mensualidad farmacia + lab.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+ $15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3776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3776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$935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mes gratis en todo · sin renovación anual, mes a mes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 · La diferencia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Cuánto se cobra en cada caso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3 años, la opción B cobra menos de un tercio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126480" y="109728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188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$6.030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el precio estimado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33172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$3.240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A (-46 %)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26480" y="356616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3657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$1.775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B (-71 %)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Año por año, frente al precio estimado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inicial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(-63 %)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$935  (-68 %)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año después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(-31 %)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  (-73 %)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años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$3.240  (-46 %)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$1.775  (-71 %)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A alcanza a la B en el mes 10 y desde ahí cobra $55 más cada mes. Pero la B no obliga a quedarse: si el cliente se va al mes 6, la A ya habría cobrado $540 y la B $725 (con el primer mes gratis).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4 · Fases, tiempos y costos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Cuánto toma construirlo y cuánto cuesta mantenerlo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sistemas funcionando en 9 semanas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7532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173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417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y pedido de las 3 impresoras fiscales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66160" y="149047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8A93A8"/>
          </a:solidFill>
          <a:ln w="12700">
            <a:solidFill>
              <a:srgbClr val="8A9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842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1–5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1984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Farmacia: caja, factura fiscal, inventario, compras y libros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86200" y="2057400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5117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4–7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5511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sobre la misma base y el mismo motor fiscal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46320" y="2624328"/>
            <a:ext cx="1280160" cy="292608"/>
          </a:xfrm>
          <a:prstGeom prst="roundRect">
            <a:avLst>
              <a:gd name="adj" fmla="val 18750"/>
            </a:avLst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1810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8–9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1810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CrossFit: pizarra, socios, membresías y cobros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3191256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685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10–15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6850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Farmacia: bancos, ISLR, conciliación y fase 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766560" y="3758184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Arranques: farmacia en la semana 5, laboratorio en la 7 y CrossFit en la 9. Las fechas dependen de que el distribuidor entregue e instale las impresoras fiscales a tiempo.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Construir los tres sistemas: unas 380 horas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280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aprox.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Farmacia, fase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Conexión y prueba de las 3 impresoras fiscales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fase 1 de los tres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Farmacia, fase 2 (después)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3063240"/>
          </a:xfrm>
          <a:prstGeom prst="roundRect">
            <a:avLst>
              <a:gd name="adj" fmla="val 2667"/>
            </a:avLst>
          </a:prstGeom>
          <a:solidFill>
            <a:srgbClr val="0E1752"/>
          </a:solidFill>
          <a:ln w="12700">
            <a:solidFill>
              <a:srgbClr val="0E175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7220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 semanas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horas de trabajo, no un gasto en efectivo. Las cubre el pago inicial o, sin pago inicial, las mensualidades del compromiso anual.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estimadas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se paga para mantenerlo en línea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0292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828800"/>
                <a:gridCol w="685800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 los tres sistemas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Supabase, plan gratis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 de los tres RIF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dirección web del sistema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$12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al arrancar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Pro (cuando crezca)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espacio y respaldo diario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$300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con respaldo diario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245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publicados por cada servicio, en dólares; confirmar al contratar. Los mensajes automáticos de WhatsApp (fase 2) los cobra Meta por mensaje y los paga el cliente.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0" y="11887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Soporte: 14 h al mes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2057400"/>
            <a:ext cx="2651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Soporte: 3 horas por semana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del SENIAT: unas 6 horas cada 3 meses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a La Azulita solo cuando hagan falta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soporte fuerte de los primeros 1 o 2 meses va dentro de la instalación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queda cada mes después de los costos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800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188720"/>
          <a:ext cx="3246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13258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$1.008 a $1.308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$528 a $828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B, año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−$167 a $133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B, después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−$132 a $168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40680" y="352044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Mensualidades del año menos $252 (plan gratis) o $552 (con respaldo diario). En la opción B el primer año tiene 11 mensualidades: el primer mes es gratis.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Conclusión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A: cubre la operación, no la construcción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27048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$44 a $69 al mes, pero sin pago inicial las ≈ 380 horas de construcción no se cobran al principio. En 3 años suma $3.240, 46 % menos que el precio estimado.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50008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0428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B: la mensualidad solo paga el alojamiento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88336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 al mes por dos sistemas deja entre −$11 y $14: el soporte queda sin cobrar. Al ser mes a mes, el cliente puede irse después de pagar los $550, y el primer mes no se cobra.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502920" cy="502920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 propuesto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49624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A con $60 farmacia + $45 laboratorio ($105 al mes): quedan $59 a $84 al mes. Opción B con $35 + $25 ($60 al mes), primer mes gratis y mínimo 12 meses: quedan $14 a $39 al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Opción A ajustada, con compromiso anual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$60 farmacia + $45 laboratorio al mes, sin pago inicial y CrossFit gratis. Con pago inicial: $300 + $250, primer mes gratis, luego $35 + $25 al mes y mínimo 12 meses. Los tres sistemas funcionando en 9 semanas.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zullab">
  <a:themeElements>
    <a:clrScheme name="Azullab">
      <a:dk1>
        <a:srgbClr val="14183A"/>
      </a:dk1>
      <a:lt1>
        <a:srgbClr val="FFFFFF"/>
      </a:lt1>
      <a:dk2>
        <a:srgbClr val="0E1752"/>
      </a:dk2>
      <a:lt2>
        <a:srgbClr val="EEF3F8"/>
      </a:lt2>
      <a:accent1>
        <a:srgbClr val="00B8BC"/>
      </a:accent1>
      <a:accent2>
        <a:srgbClr val="2A30D6"/>
      </a:accent2>
      <a:accent3>
        <a:srgbClr val="D98E04"/>
      </a:accent3>
      <a:accent4>
        <a:srgbClr val="1F7A43"/>
      </a:accent4>
      <a:accent5>
        <a:srgbClr val="B3261E"/>
      </a:accent5>
      <a:accent6>
        <a:srgbClr val="8A93A8"/>
      </a:accent6>
      <a:hlink>
        <a:srgbClr val="2A30D6"/>
      </a:hlink>
      <a:folHlink>
        <a:srgbClr val="5B3AA6"/>
      </a:folHlink>
    </a:clrScheme>
    <a:fontScheme name="Azul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Grupo Azullab · Precios de Cuadre</dc:title>
  <dc:subject>PptxGenJS Presentation</dc:subject>
  <dc:creator>Josedaniel Guerrero</dc:creator>
  <cp:lastModifiedBy>Josedaniel Guerrero</cp:lastModifiedBy>
  <cp:revision>1</cp:revision>
  <dcterms:created xsi:type="dcterms:W3CDTF">2026-10-28T17:43:26Z</dcterms:created>
  <dcterms:modified xsi:type="dcterms:W3CDTF">2026-10-28T17:43:26Z</dcterms:modified>
</cp:coreProperties>
</file>