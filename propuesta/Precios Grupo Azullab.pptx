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d6a0c574-6ffc-4dff-3874-ce7e5149cabe}">
          <p14:sldIdLst>
            <p14:sldId id="256"/>
          </p14:sldIdLst>
        </p14:section>
        <p14:section name="Qué trae" id="{cd4bb5e0-6a18-ee93-a8da-e1ac06589b92}">
          <p14:sldIdLst>
            <p14:sldId id="257"/>
            <p14:sldId id="258"/>
          </p14:sldIdLst>
        </p14:section>
        <p14:section name="Precio estimado" id="{628b073d-67c7-6a9b-1fc2-23a69be6d7ce}">
          <p14:sldIdLst>
            <p14:sldId id="259"/>
            <p14:sldId id="260"/>
          </p14:sldIdLst>
        </p14:section>
        <p14:section name="Dos opciones nuevas" id="{9eb82ca3-8fd1-2a5c-40a0-0fc7588d0b44}">
          <p14:sldIdLst>
            <p14:sldId id="261"/>
            <p14:sldId id="262"/>
          </p14:sldIdLst>
        </p14:section>
        <p14:section name="La diferencia" id="{4dec71fb-2c79-03e1-b24a-70e4c402bbac}">
          <p14:sldIdLst>
            <p14:sldId id="263"/>
            <p14:sldId id="264"/>
            <p14:sldId id="265"/>
          </p14:sldIdLst>
        </p14:section>
        <p14:section name="Costos y tiempos" id="{b02094f5-37a6-ce35-2020-3a28f391be4b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ierre" id="{87ea320a-15ad-6568-94cf-196337976a3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E5A7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E5A73"/>
                </a:solidFill>
                <a:latin typeface="+mn-lt"/>
              </a:rPr>
              <a:t>Lo cobrado, acumulado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estimado</c:v>
                </c:pt>
              </c:strCache>
            </c:strRef>
          </c:tx>
          <c:spPr>
            <a:solidFill>
              <a:srgbClr val="0E1752"/>
            </a:solidFill>
            <a:ln w="31750" cap="flat">
              <a:solidFill>
                <a:srgbClr val="0E17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1752"/>
              </a:solidFill>
              <a:ln w="9525" cap="flat">
                <a:solidFill>
                  <a:srgbClr val="0E17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Inicio</c:v>
                  </c:pt>
                  <c:pt idx="1">
                    <c:v>Mes 6</c:v>
                  </c:pt>
                  <c:pt idx="2">
                    <c:v>Mes 12</c:v>
                  </c:pt>
                  <c:pt idx="3">
                    <c:v>Mes 18</c:v>
                  </c:pt>
                  <c:pt idx="4">
                    <c:v>Mes 24</c:v>
                  </c:pt>
                  <c:pt idx="5">
                    <c:v>Mes 30</c:v>
                  </c:pt>
                  <c:pt idx="6">
                    <c:v>Mes 36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1350</c:v>
                </c:pt>
                <c:pt idx="1">
                  <c:v>2130</c:v>
                </c:pt>
                <c:pt idx="2">
                  <c:v>2910</c:v>
                </c:pt>
                <c:pt idx="3">
                  <c:v>3690</c:v>
                </c:pt>
                <c:pt idx="4">
                  <c:v>4470</c:v>
                </c:pt>
                <c:pt idx="5">
                  <c:v>5250</c:v>
                </c:pt>
                <c:pt idx="6">
                  <c:v>6030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Opción A</c:v>
                </c:pt>
              </c:strCache>
            </c:strRef>
          </c:tx>
          <c:spPr>
            <a:solidFill>
              <a:srgbClr val="2A30D6"/>
            </a:solidFill>
            <a:ln w="31750" cap="flat">
              <a:solidFill>
                <a:srgbClr val="2A30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30D6"/>
              </a:solidFill>
              <a:ln w="9525" cap="flat">
                <a:solidFill>
                  <a:srgbClr val="2A30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Inicio</c:v>
                  </c:pt>
                  <c:pt idx="1">
                    <c:v>Mes 6</c:v>
                  </c:pt>
                  <c:pt idx="2">
                    <c:v>Mes 12</c:v>
                  </c:pt>
                  <c:pt idx="3">
                    <c:v>Mes 18</c:v>
                  </c:pt>
                  <c:pt idx="4">
                    <c:v>Mes 24</c:v>
                  </c:pt>
                  <c:pt idx="5">
                    <c:v>Mes 30</c:v>
                  </c:pt>
                  <c:pt idx="6">
                    <c:v>Mes 36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540</c:v>
                </c:pt>
                <c:pt idx="2">
                  <c:v>1080</c:v>
                </c:pt>
                <c:pt idx="3">
                  <c:v>1620</c:v>
                </c:pt>
                <c:pt idx="4">
                  <c:v>2160</c:v>
                </c:pt>
                <c:pt idx="5">
                  <c:v>2700</c:v>
                </c:pt>
                <c:pt idx="6">
                  <c:v>3240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Opción B</c:v>
                </c:pt>
              </c:strCache>
            </c:strRef>
          </c:tx>
          <c:spPr>
            <a:solidFill>
              <a:srgbClr val="D98E04"/>
            </a:solidFill>
            <a:ln w="31750" cap="flat">
              <a:solidFill>
                <a:srgbClr val="D98E0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E04"/>
              </a:solidFill>
              <a:ln w="9525" cap="flat">
                <a:solidFill>
                  <a:srgbClr val="D98E0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Inicio</c:v>
                  </c:pt>
                  <c:pt idx="1">
                    <c:v>Mes 6</c:v>
                  </c:pt>
                  <c:pt idx="2">
                    <c:v>Mes 12</c:v>
                  </c:pt>
                  <c:pt idx="3">
                    <c:v>Mes 18</c:v>
                  </c:pt>
                  <c:pt idx="4">
                    <c:v>Mes 24</c:v>
                  </c:pt>
                  <c:pt idx="5">
                    <c:v>Mes 30</c:v>
                  </c:pt>
                  <c:pt idx="6">
                    <c:v>Mes 36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550</c:v>
                </c:pt>
                <c:pt idx="1">
                  <c:v>760</c:v>
                </c:pt>
                <c:pt idx="2">
                  <c:v>970</c:v>
                </c:pt>
                <c:pt idx="3">
                  <c:v>1180</c:v>
                </c:pt>
                <c:pt idx="4">
                  <c:v>1390</c:v>
                </c:pt>
                <c:pt idx="5">
                  <c:v>1600</c:v>
                </c:pt>
                <c:pt idx="6">
                  <c:v>1810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E5A7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E5A73"/>
                </a:solidFill>
                <a:latin typeface="+mn-lt"/>
              </a:rPr>
              <a:t>Mensualidad menos costo en efectivo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 plan gratis ($21)</c:v>
                </c:pt>
              </c:strCache>
            </c:strRef>
          </c:tx>
          <c:spPr>
            <a:solidFill>
              <a:srgbClr val="00B8B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8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Precio estimado ($130)</c:v>
                  </c:pt>
                  <c:pt idx="1">
                    <c:v>Opción A ($90)</c:v>
                  </c:pt>
                  <c:pt idx="2">
                    <c:v>Opción B ($35)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</c:v>
                </c:pt>
                <c:pt idx="1">
                  <c:v>69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respaldo diario ($46)</c:v>
                </c:pt>
              </c:strCache>
            </c:strRef>
          </c:tx>
          <c:spPr>
            <a:solidFill>
              <a:srgbClr val="0E175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8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Precio estimado ($130)</c:v>
                  </c:pt>
                  <c:pt idx="1">
                    <c:v>Opción A ($90)</c:v>
                  </c:pt>
                  <c:pt idx="2">
                    <c:v>Opción B ($35)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</c:v>
                </c:pt>
                <c:pt idx="1">
                  <c:v>44</c:v>
                </c:pt>
                <c:pt idx="2">
                  <c:v>-11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8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Farmacia según la propuesta del 27-10-2026 (fase 1 $500, fase 2 $250 juntas; $45 al mes que pasan a $60 con la fase 2). El cálculo usa $60 los 12 meses y no descuenta el primer mes gratis de la farmacia. Laboratorio: $600 y $50 al mes. CrossFit: instalación regalada (vale $300) y $20 al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Supuesto: el CrossFit va gratis en las dos opciones, sin instalación y sin mensualidad. Opción A: $90 al mes por 12 meses. Opción B: $550 de instalación y $35 al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Costos en efectivo: Vercel Pro $20 + dominio ≈ $1; base de datos en plan gratis ($0) o Pro ($25) con respaldo diario. Tiempo: 3 h de soporte por semana más unas 6 h de cambios del SENIAT cada 3 meses ≈ 14 h al mes. Horas de construcción y valor de $10 por hora: estimados.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E17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9E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E17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9E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</a:rPr>
              <a:t>Grupo Azullab · Precios de Cuadre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Precios de Cuadre para el Grupo Azullab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Farmacia, Laboratorio y CrossFit · alcance, costos, tiempos y formas de pago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Josedaniel Guerrero · 28-10-2026 · precios en dólares, sin impuestos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trae cada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15184" cy="3383280"/>
          </a:xfrm>
          <a:prstGeom prst="roundRect">
            <a:avLst>
              <a:gd name="adj" fmla="val 27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con escáner, pagos mixtos y Cashea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 fiscal: Reporte X y Z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por lote y vencimiento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Compras, ganancias, bancos e ISLR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del SENIAT y tasa BCV sola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188720"/>
            <a:ext cx="2615184" cy="3383280"/>
          </a:xfrm>
          <a:prstGeom prst="roundRect">
            <a:avLst>
              <a:gd name="adj" fmla="val 27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371600"/>
            <a:ext cx="384048" cy="384048"/>
          </a:xfrm>
          <a:prstGeom prst="ellipse">
            <a:avLst/>
          </a:prstGeom>
          <a:solidFill>
            <a:srgbClr val="2A30D6"/>
          </a:solidFill>
          <a:ln w="12700">
            <a:solidFill>
              <a:srgbClr val="2A30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05072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659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paciente y atención sin cita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por tubo y sala de toma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 valores fuera de rango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firmado con QR por WhatsApp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fiscal, libros y checklist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9904" y="1188720"/>
            <a:ext cx="2615184" cy="3383280"/>
          </a:xfrm>
          <a:prstGeom prst="roundRect">
            <a:avLst>
              <a:gd name="adj" fmla="val 27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1371600"/>
            <a:ext cx="384048" cy="384048"/>
          </a:xfrm>
          <a:prstGeom prst="ellipse">
            <a:avLst/>
          </a:prstGeom>
          <a:solidFill>
            <a:srgbClr val="1F7A43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CrossFit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19659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del día con cada movimiento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socio: reserva y resultados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 con aviso de vencimiento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con factura e IVA de 16 %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con cédula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 que el grupo paga aparte, no a Cuadre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0E1752"/>
          </a:solidFill>
          <a:ln w="12700">
            <a:solidFill>
              <a:srgbClr val="0E17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$2.100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impresoras fiscales, una por RIF, a unos $700 cada una (precio de referencia: cotizar con el distribuidor en Mérida)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compran una sola vez. No se paga nada por cada factura.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261872"/>
            <a:ext cx="292608" cy="29260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1887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 o mini PC por caja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14813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Farmacia, Atención del laboratorio y recepción del box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1947672"/>
            <a:ext cx="292608" cy="29260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874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de código de barras y gaveta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21671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caja de la farmacia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2633472"/>
            <a:ext cx="292608" cy="29260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5603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por caja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28529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luz falla en La Azulita; protege la impresora fiscal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3319272"/>
            <a:ext cx="292608" cy="29260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2461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 respaldo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3538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conexión principal y datos móviles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94760" y="4005072"/>
            <a:ext cx="292608" cy="292608"/>
          </a:xfrm>
          <a:prstGeom prst="ellipse">
            <a:avLst/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9476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9319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Talonario y rollos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42245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Talonario de imprenta para fallas, papel térmico y servicio técnico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 · El precio estimado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Instalación por sistema y mensualidad por sistema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Precio estimado: $2.910 el primer año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0584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Farmacia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1 $500 + fase 2 $250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$300: regalo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325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$2.910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año: instalación más 12 mensualidades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$1.560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desde el segundo: solo mensualidades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 · Dos opciones nuevas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Sin pago inicial o con pago inicial; el CrossFit va gratis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Opción A sin pago inicial, opción B con pago inicial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2A30D6"/>
          </a:solidFill>
          <a:ln w="12700">
            <a:solidFill>
              <a:srgbClr val="2A30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pago inicial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965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al mes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50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34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al mes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734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1181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93592"/>
            <a:ext cx="352044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año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A3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$1.080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compromiso anual: 12 meses seguidos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3716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pago inicial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965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farmacia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19659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laboratorio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350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2734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Mensualidad farmacia + lab.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7340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+ $15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1181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3593592"/>
            <a:ext cx="352044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año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$970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4937760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renovación anual: mes a mes, se puede ir cuando quiera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3 · La diferencia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Cuánto se cobra en cada caso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 3 años, la opción B cobra menos de un tercio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0972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$6.030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 con el precio estimado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23317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3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$3.240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 con la opción A (-46 %)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$1.810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 con la opción B (-70 %)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Año por año, frente al precio estimado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inicial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año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$1.080  (-63 %)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$970  (-67 %)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 después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$1.080  (-31 %)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  (-73 %)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años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$3.240  (-46 %)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$1.810  (-70 %)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A alcanza a la B en el mes 10 y desde ahí cobra $55 más cada mes. Pero la B no obliga a quedarse: si el cliente se va al mes 6, la A ya habría cobrado $540 y la B $760.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 · Fases, tiempos y costos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Cuánto toma construirlo y cuánto cuesta mantenerlo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E9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tres sistemas funcionando en 9 semanas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097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417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y pedido de las 3 impresoras fiscales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66160" y="149047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8A93A8"/>
          </a:solidFill>
          <a:ln w="12700">
            <a:solidFill>
              <a:srgbClr val="8A9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842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Farmacia: caja, factura fiscal, inventario, compras y libros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86200" y="205740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00B8BC"/>
          </a:solidFill>
          <a:ln w="12700">
            <a:solidFill>
              <a:srgbClr val="00B8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511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4–7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5511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sobre la misma base y el mismo motor fiscal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A30D6"/>
          </a:solidFill>
          <a:ln w="12700">
            <a:solidFill>
              <a:srgbClr val="2A30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181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8–9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1181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CrossFit: pizarra, socios, membresías y cobros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191256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F7A43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685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10–15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850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Farmacia: bancos, ISLR, conciliación y fase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3758184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Arranques: farmacia en la semana 5, laboratorio en la 7 y CrossFit en la 9. Las fechas dependen de que el distribuidor entregue e instale las impresoras fiscales a tiempo.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Construir los tres sistemas: unas 380 horas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aprox.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Farmacia, fase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y prueba de las 3 impresoras fiscales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fase 1 de los tres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Farmacia, fase 2 (después)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0E1752"/>
          </a:solidFill>
          <a:ln w="12700">
            <a:solidFill>
              <a:srgbClr val="0E175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$3.800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esas horas a $10 la hora. El pago inicial es lo que cubre esta construcción.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estimadas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Mantenerlo cuesta $21 a $46 al mes y 14 horas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Pro: aloja los tres sistemas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234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plan gratis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con respaldo diario (plan Pro, más adelante)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$25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75488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efectivo: $21 al mes; $46 con respaldo diario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h al mes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0574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Soporte: 3 horas por semana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del SENIAT: unas 6 horas cada 3 meses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 La Azulita solo cuando hagan falta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soporte fuerte de los primeros 1 o 2 meses va dentro de la instalación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 que queda cada mes después de los costos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18872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hora de soporte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estimado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 a $8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a $5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94360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al mes dividido entre las 14 horas de soporte y actualizaciones.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2A30D6"/>
          </a:solidFill>
          <a:ln w="12700">
            <a:solidFill>
              <a:srgbClr val="2A30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Opción A: cubre la operación, no la construcción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2704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$44 a $69 al mes, pero sin pago inicial las ≈ 380 horas de construcción no se cobran al principio. En 3 años suma $3.240, 46 % menos que el precio estimado.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502920" cy="50292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04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Opción B: la mensualidad solo paga el alojamiento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8833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al mes por dos sistemas deja entre −$11 y $14: el soporte queda sin cobrar. Al ser mes a mes, el cliente puede irse después de pagar los $550.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502920" cy="502920"/>
          </a:xfrm>
          <a:prstGeom prst="ellipse">
            <a:avLst/>
          </a:prstGeom>
          <a:solidFill>
            <a:srgbClr val="1F7A43"/>
          </a:solidFill>
          <a:ln w="12700">
            <a:solidFill>
              <a:srgbClr val="1F7A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65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7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propuesto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4962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con $60 farmacia + $45 laboratorio ($105 al mes): quedan $59 a $84 al mes. Opción B con $35 + $25 ($60 al mes) y mínimo 12 meses: quedan $14 a $39 al 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Opción A ajustada, con compromiso anual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9EA"/>
                </a:solidFill>
              </a:rPr>
              <a:t>$60 farmacia + $45 laboratorio al mes, sin pago inicial y CrossFit gratis. Con pago inicial: $300 + $250, con $35 + $25 al mes y mínimo 12 meses. Los tres sistemas funcionando en 9 semanas.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llab">
  <a:themeElements>
    <a:clrScheme name="Azullab">
      <a:dk1>
        <a:srgbClr val="14183A"/>
      </a:dk1>
      <a:lt1>
        <a:srgbClr val="FFFFFF"/>
      </a:lt1>
      <a:dk2>
        <a:srgbClr val="0E1752"/>
      </a:dk2>
      <a:lt2>
        <a:srgbClr val="EEF3F8"/>
      </a:lt2>
      <a:accent1>
        <a:srgbClr val="00B8BC"/>
      </a:accent1>
      <a:accent2>
        <a:srgbClr val="2A30D6"/>
      </a:accent2>
      <a:accent3>
        <a:srgbClr val="D98E04"/>
      </a:accent3>
      <a:accent4>
        <a:srgbClr val="1F7A43"/>
      </a:accent4>
      <a:accent5>
        <a:srgbClr val="B3261E"/>
      </a:accent5>
      <a:accent6>
        <a:srgbClr val="8A93A8"/>
      </a:accent6>
      <a:hlink>
        <a:srgbClr val="2A30D6"/>
      </a:hlink>
      <a:folHlink>
        <a:srgbClr val="5B3AA6"/>
      </a:folHlink>
    </a:clrScheme>
    <a:fontScheme name="Azul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Azullab · Precios de Cuadre</dc:title>
  <dc:subject>PptxGenJS Presentation</dc:subject>
  <dc:creator>Josedaniel Guerrero</dc:creator>
  <cp:lastModifiedBy>Josedaniel Guerrero</cp:lastModifiedBy>
  <cp:revision>1</cp:revision>
  <dcterms:created xsi:type="dcterms:W3CDTF">2026-10-28T17:38:47Z</dcterms:created>
  <dcterms:modified xsi:type="dcterms:W3CDTF">2026-10-28T17:38:47Z</dcterms:modified>
</cp:coreProperties>
</file>