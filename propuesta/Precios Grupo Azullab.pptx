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47543ba0-7fbe-4d6a-7dd0-3afa111e98d1}">
          <p14:sldIdLst>
            <p14:sldId id="256"/>
          </p14:sldIdLst>
        </p14:section>
        <p14:section name="Qué trae" id="{98a42553-e3b7-1f5b-4cb5-0d8c92ae3712}">
          <p14:sldIdLst>
            <p14:sldId id="257"/>
            <p14:sldId id="258"/>
          </p14:sldIdLst>
        </p14:section>
        <p14:section name="Precios de esta mañana" id="{c9867837-ce27-57c8-36e5-e2ae2455b7b6}">
          <p14:sldIdLst>
            <p14:sldId id="259"/>
            <p14:sldId id="260"/>
          </p14:sldIdLst>
        </p14:section>
        <p14:section name="Dos opciones nuevas" id="{47cd3e93-17e1-cb4d-fc3c-1084b27474ac}">
          <p14:sldIdLst>
            <p14:sldId id="261"/>
            <p14:sldId id="262"/>
          </p14:sldIdLst>
        </p14:section>
        <p14:section name="La diferencia" id="{3ab47de4-a873-8877-e1dc-1fa63fcf0a31}">
          <p14:sldIdLst>
            <p14:sldId id="263"/>
            <p14:sldId id="264"/>
            <p14:sldId id="265"/>
          </p14:sldIdLst>
        </p14:section>
        <p14:section name="Costos y tiempos" id="{3b618566-db69-d7a8-3984-b4e88e99c581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ierre" id="{72a63a1a-9f97-c4b5-dd49-87fddd7d1d3b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E5A7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E5A73"/>
                </a:solidFill>
                <a:latin typeface="+mn-lt"/>
              </a:rPr>
              <a:t>Lo cobrado, acumulado (USD)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 mañana</c:v>
                </c:pt>
              </c:strCache>
            </c:strRef>
          </c:tx>
          <c:spPr>
            <a:solidFill>
              <a:srgbClr val="0E1752"/>
            </a:solidFill>
            <a:ln w="31750" cap="flat">
              <a:solidFill>
                <a:srgbClr val="0E17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1752"/>
              </a:solidFill>
              <a:ln w="9525" cap="flat">
                <a:solidFill>
                  <a:srgbClr val="0E17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1350</c:v>
                </c:pt>
                <c:pt idx="1">
                  <c:v>2130</c:v>
                </c:pt>
                <c:pt idx="2">
                  <c:v>2910</c:v>
                </c:pt>
                <c:pt idx="3">
                  <c:v>3690</c:v>
                </c:pt>
                <c:pt idx="4">
                  <c:v>4470</c:v>
                </c:pt>
                <c:pt idx="5">
                  <c:v>5250</c:v>
                </c:pt>
                <c:pt idx="6">
                  <c:v>6030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Opción A</c:v>
                </c:pt>
              </c:strCache>
            </c:strRef>
          </c:tx>
          <c:spPr>
            <a:solidFill>
              <a:srgbClr val="2A30D6"/>
            </a:solidFill>
            <a:ln w="31750" cap="flat">
              <a:solidFill>
                <a:srgbClr val="2A30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30D6"/>
              </a:solidFill>
              <a:ln w="9525" cap="flat">
                <a:solidFill>
                  <a:srgbClr val="2A30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540</c:v>
                </c:pt>
                <c:pt idx="2">
                  <c:v>1080</c:v>
                </c:pt>
                <c:pt idx="3">
                  <c:v>1620</c:v>
                </c:pt>
                <c:pt idx="4">
                  <c:v>2160</c:v>
                </c:pt>
                <c:pt idx="5">
                  <c:v>2700</c:v>
                </c:pt>
                <c:pt idx="6">
                  <c:v>3240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Opción B</c:v>
                </c:pt>
              </c:strCache>
            </c:strRef>
          </c:tx>
          <c:spPr>
            <a:solidFill>
              <a:srgbClr val="D98E04"/>
            </a:solidFill>
            <a:ln w="31750" cap="flat">
              <a:solidFill>
                <a:srgbClr val="D98E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E04"/>
              </a:solidFill>
              <a:ln w="9525" cap="flat">
                <a:solidFill>
                  <a:srgbClr val="D98E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Inicio</c:v>
                  </c:pt>
                  <c:pt idx="1">
                    <c:v>Mes 6</c:v>
                  </c:pt>
                  <c:pt idx="2">
                    <c:v>Mes 12</c:v>
                  </c:pt>
                  <c:pt idx="3">
                    <c:v>Mes 18</c:v>
                  </c:pt>
                  <c:pt idx="4">
                    <c:v>Mes 24</c:v>
                  </c:pt>
                  <c:pt idx="5">
                    <c:v>Mes 30</c:v>
                  </c:pt>
                  <c:pt idx="6">
                    <c:v>Mes 36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550</c:v>
                </c:pt>
                <c:pt idx="1">
                  <c:v>760</c:v>
                </c:pt>
                <c:pt idx="2">
                  <c:v>970</c:v>
                </c:pt>
                <c:pt idx="3">
                  <c:v>1180</c:v>
                </c:pt>
                <c:pt idx="4">
                  <c:v>1390</c:v>
                </c:pt>
                <c:pt idx="5">
                  <c:v>1600</c:v>
                </c:pt>
                <c:pt idx="6">
                  <c:v>1810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7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E5A7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E5A73"/>
                </a:solidFill>
                <a:latin typeface="+mn-lt"/>
              </a:rPr>
              <a:t>Mensualidad menos costo en efectivo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 plan gratis ($21)</c:v>
                </c:pt>
              </c:strCache>
            </c:strRef>
          </c:tx>
          <c:spPr>
            <a:solidFill>
              <a:srgbClr val="00B8BC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8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Esta mañana ($130)</c:v>
                  </c:pt>
                  <c:pt idx="1">
                    <c:v>Opción A ($90)</c:v>
                  </c:pt>
                  <c:pt idx="2">
                    <c:v>Opción B ($35)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</c:v>
                </c:pt>
                <c:pt idx="1">
                  <c:v>69</c:v>
                </c:pt>
                <c:pt idx="2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 respaldo diario ($46)</c:v>
                </c:pt>
              </c:strCache>
            </c:strRef>
          </c:tx>
          <c:spPr>
            <a:solidFill>
              <a:srgbClr val="0E1752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8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Esta mañana ($130)</c:v>
                  </c:pt>
                  <c:pt idx="1">
                    <c:v>Opción A ($90)</c:v>
                  </c:pt>
                  <c:pt idx="2">
                    <c:v>Opción B ($35)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84</c:v>
                </c:pt>
                <c:pt idx="1">
                  <c:v>44</c:v>
                </c:pt>
                <c:pt idx="2">
                  <c:v>-11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18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7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A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Farmacia según la propuesta del 27-10-2026 (fase 1 $500, fase 2 $250 juntas; $45 al mes que pasan a $60 con la fase 2). El cálculo usa $60 los 12 meses y no descuenta el primer mes gratis de la farmacia. Laboratorio: $600 y $50 al mes. CrossFit: instalación regalada (vale $300) y $20 al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Supuesto: el CrossFit va gratis en las dos opciones, sin instalación y sin mensualidad. Opción A: $90 al mes por 12 meses. Opción B: $550 de instalación y $35 al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Costos en efectivo: Vercel Pro $20 + dominio ≈ $1; base de datos en plan gratis ($0) o Pro ($25) con respaldo diario. Tiempo: 3 h de soporte por semana más unas 6 h de cambios del SENIAT cada 3 meses ≈ 14 h al mes. Horas de construcción y valor de $10 por hora: estimados.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E17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E9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0E17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E9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</a:rPr>
              <a:t>Grupo Azullab · Precios de Cuadre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Precios de Cuadre para el Grupo Azullab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Farmacia, Laboratorio y CrossFit · alcance, costos, tiempos y formas de pago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Josedaniel Guerrero · 28-10-2026 · precios en dólares, sin impuestos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Qué trae cada sistema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Farmacia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con escáner, pagos mixtos y Cashea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Impresora fiscal: Reporte X y Z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por lote y vencimiento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Compras, ganancias, bancos e ISLR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del SENIAT y tasa BCV sola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73552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02152" y="1371600"/>
            <a:ext cx="384048" cy="384048"/>
          </a:xfrm>
          <a:prstGeom prst="ellipse">
            <a:avLst/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05072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del paciente y atención sin cita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por tubo y sala de toma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con valores fuera de rango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firmado con QR por WhatsApp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fiscal, libros y checklist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89904" y="1188720"/>
            <a:ext cx="2615184" cy="3383280"/>
          </a:xfrm>
          <a:prstGeom prst="roundRect">
            <a:avLst>
              <a:gd name="adj" fmla="val 279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18504" y="1371600"/>
            <a:ext cx="384048" cy="384048"/>
          </a:xfrm>
          <a:prstGeom prst="ellipse">
            <a:avLst/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21424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CrossFit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18504" y="1965960"/>
            <a:ext cx="2240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Pizarra del día con cada movimiento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del socio: reserva y resultados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Membresías con aviso de vencimiento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con factura e IVA de 16 %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con cédula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el grupo paga aparte, no a Cuadre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017520" cy="3383280"/>
          </a:xfrm>
          <a:prstGeom prst="roundRect">
            <a:avLst>
              <a:gd name="adj" fmla="val 2424"/>
            </a:avLst>
          </a:prstGeom>
          <a:solidFill>
            <a:srgbClr val="0E1752"/>
          </a:solidFill>
          <a:ln w="12700">
            <a:solidFill>
              <a:srgbClr val="0E175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$2.100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68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impresoras fiscales, una por RIF, a unos $700 cada una (precio de referencia: cotizar con el distribuidor en Mérida)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compran una sola vez. No se paga nada por cada factura.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12618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261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11887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 o mini PC por caja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14813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Farmacia, Atención del laboratorio y recepción del box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94760" y="19476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94760" y="1947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18745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Lector de código de barras y gaveta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21671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caja de la farmacia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94760" y="26334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5603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 por caja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28529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luz falla en La Azulita; protege la impresora fiscal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94760" y="33192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947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2461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con respaldo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51960" y="35387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conexión principal y datos móviles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794760" y="4005072"/>
            <a:ext cx="292608" cy="292608"/>
          </a:xfrm>
          <a:prstGeom prst="ellipse">
            <a:avLst/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94760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9319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Talonario y rollos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22452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Talonario de imprenta para fallas, papel térmico y servicio técnico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1 · Los precios de esta mañana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Instalación por sistema y mensualidad por sistema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Precios de esta mañana: $2.910 el primer año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05840"/>
                <a:gridCol w="1188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año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Farmacia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Fase 1 $500 + fase 2 $250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 $300: regalo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18872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72200" y="13258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$2.910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172200" y="2103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año: instalación más 12 mensualidades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943600" y="292608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72200" y="3063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$1.560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3840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año desde el segundo: solo mensualidades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2 · Dos opciones nuevas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Sin pago inicial o con pago inicial; el CrossFit va gratis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Opción A sin pago inicial, opción B con pago inicial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383280"/>
          </a:xfrm>
          <a:prstGeom prst="roundRect">
            <a:avLst>
              <a:gd name="adj" fmla="val 2162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371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pago inicial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65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9659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500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al mes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35000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7340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al mes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273405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1181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CrossFit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1181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593592"/>
            <a:ext cx="3520440" cy="0"/>
          </a:xfrm>
          <a:prstGeom prst="line">
            <a:avLst/>
          </a:prstGeom>
          <a:noFill/>
          <a:ln w="9525">
            <a:solidFill>
              <a:srgbClr val="8A93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año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A3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$1.080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14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compromiso anual: 12 meses seguidos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1188720"/>
            <a:ext cx="3977640" cy="3383280"/>
          </a:xfrm>
          <a:prstGeom prst="roundRect">
            <a:avLst>
              <a:gd name="adj" fmla="val 2162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1371600"/>
            <a:ext cx="822960" cy="384048"/>
          </a:xfrm>
          <a:prstGeom prst="roundRect">
            <a:avLst>
              <a:gd name="adj" fmla="val 1428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1371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1371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pago inicial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1965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farmacia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1965960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23500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laboratorio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235000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937760" y="27340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Mensualidad farmacia + lab.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273405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+ $15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31181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CrossFit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0" y="311810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937760" y="3593592"/>
            <a:ext cx="3520440" cy="0"/>
          </a:xfrm>
          <a:prstGeom prst="line">
            <a:avLst/>
          </a:prstGeom>
          <a:noFill/>
          <a:ln w="9525">
            <a:solidFill>
              <a:srgbClr val="8A93A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93776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año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2940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$970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4937760" y="41148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renovación anual: mes a mes, se puede ir cuando quiera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3 · La diferencia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Cuánto se cobra en cada caso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3 años, la opción B cobra menos de un tercio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3949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126480" y="109728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188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$6.030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los precios de esta mañana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233172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2423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30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$3.240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la opción A (-46 %)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26480" y="356616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09360" y="3657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98E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$1.810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41605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años con la opción B (-70 %)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Año por año, frente a los precios de esta mañana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 mañana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inicial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$1.350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año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$2.910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$1.080  (-63 %)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$970  (-67 %)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año después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$1.560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$1.080  (-31 %)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$420  (-73 %)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años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$6.030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$3.240  (-46 %)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$1.810  (-70 %)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opción A alcanza a la B en el mes 10 y desde ahí cobra $55 más cada mes. Pero la B no obliga a quedarse: si el cliente se va al mes 6, la A ya habría cobrado $540 y la B $760.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4 · Fases, tiempos y costos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Cuánto toma construirlo y cuánto cuesta mantenerlo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E9EA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tres sistemas funcionando en 9 semanas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75320" y="10972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173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4173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y pedido de las 3 impresoras fiscales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66160" y="149047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8A93A8"/>
          </a:solidFill>
          <a:ln w="12700">
            <a:solidFill>
              <a:srgbClr val="8A9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19842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1–5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1984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Farmacia: caja, factura fiscal, inventario, compras y libros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886200" y="2057400"/>
            <a:ext cx="1600200" cy="292608"/>
          </a:xfrm>
          <a:prstGeom prst="roundRect">
            <a:avLst>
              <a:gd name="adj" fmla="val 18750"/>
            </a:avLst>
          </a:prstGeom>
          <a:solidFill>
            <a:srgbClr val="00B8BC"/>
          </a:solidFill>
          <a:ln w="12700">
            <a:solidFill>
              <a:srgbClr val="00B8B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5117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4–7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55117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sobre la misma base y el mismo motor fiscal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46320" y="2624328"/>
            <a:ext cx="1280160" cy="292608"/>
          </a:xfrm>
          <a:prstGeom prst="roundRect">
            <a:avLst>
              <a:gd name="adj" fmla="val 18750"/>
            </a:avLst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1810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8–9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18104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CrossFit: pizarra, socios, membresías y cobros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26480" y="3191256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685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10–15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68503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Farmacia: bancos, ISLR, conciliación y fase 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766560" y="3758184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Arranques: farmacia en la semana 5, laboratorio en la 7 y CrossFit en la 9. Las fechas dependen de que el distribuidor entregue e instale las impresoras fiscales a tiempo.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Construir los tres sistemas: unas 380 horas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2801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Trabajo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aprox.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Farmacia, fase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Conexión y prueba de las 3 impresoras fiscales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fase 1 de los tres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Farmacia, fase 2 (después)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188720"/>
            <a:ext cx="2743200" cy="3063240"/>
          </a:xfrm>
          <a:prstGeom prst="roundRect">
            <a:avLst>
              <a:gd name="adj" fmla="val 2667"/>
            </a:avLst>
          </a:prstGeom>
          <a:solidFill>
            <a:srgbClr val="0E1752"/>
          </a:solidFill>
          <a:ln w="12700">
            <a:solidFill>
              <a:srgbClr val="0E175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72200" y="1463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$3.800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172200" y="228600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E9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 esas horas a $10 la hora. El pago inicial es lo que cubre esta construcción.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estimadas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Mantenerlo cuesta $21 a $46 al mes y 14 horas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Pro: aloja los tres sistemas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234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 plan gratis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830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31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331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con respaldo diario (plan Pro, más adelante)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880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$25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4754880" cy="0"/>
          </a:xfrm>
          <a:prstGeom prst="line">
            <a:avLst/>
          </a:prstGeom>
          <a:noFill/>
          <a:ln w="9525">
            <a:solidFill>
              <a:srgbClr val="8A9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566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efectivo: $21 al mes; $46 con respaldo diario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0" y="118872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97880" y="1325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h al mes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057400"/>
            <a:ext cx="2651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Soporte: 3 horas por semana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del SENIAT: unas 6 horas cada 3 meses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 a La Azulita solo cuando hagan falta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soporte fuerte de los primeros 1 o 2 meses va dentro de la instalación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queda cada mes después de los costos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188720"/>
          <a:ext cx="2743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hora de soporte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5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 mañana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 a $8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 a $5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Opción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18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casi $0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943600" y="3108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queda al mes dividido entre las 14 horas de soporte y actualizaciones.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Conclusión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2A30D6"/>
          </a:solidFill>
          <a:ln w="12700">
            <a:solidFill>
              <a:srgbClr val="2A30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Opción A: cubre la operación, no la construcción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27048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$44 a $69 al mes, pero sin pago inicial las ≈ 380 horas de construcción no se cobran al principio. En 3 años suma $3.240, 46 % menos que los precios de esta mañana.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50008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350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0428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Opción B: la mensualidad solo paga el alojamiento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88336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 al mes por dos sistemas deja entre −$11 y $14: el soporte queda sin cobrar. Al ser mes a mes, el cliente puede irse después de pagar los $550.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502920" cy="502920"/>
          </a:xfrm>
          <a:prstGeom prst="ellipse">
            <a:avLst/>
          </a:prstGeom>
          <a:solidFill>
            <a:srgbClr val="1F7A43"/>
          </a:solidFill>
          <a:ln w="12700">
            <a:solidFill>
              <a:srgbClr val="1F7A4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46557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7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 propuesto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849624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A con $60 farmacia + $45 laboratorio ($105 al mes): quedan $59 a $84 al mes. Opción B con $35 + $25 ($60 al mes) y mínimo 12 meses: quedan $14 a $39 al 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Opción A ajustada, con compromiso anual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9EA"/>
                </a:solidFill>
              </a:rPr>
              <a:t>$60 farmacia + $45 laboratorio al mes, sin pago inicial y CrossFit gratis. Con pago inicial: $300 + $250, con $35 + $25 al mes y mínimo 12 meses. Los tres sistemas funcionando en 9 semanas.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zullab">
  <a:themeElements>
    <a:clrScheme name="Azullab">
      <a:dk1>
        <a:srgbClr val="14183A"/>
      </a:dk1>
      <a:lt1>
        <a:srgbClr val="FFFFFF"/>
      </a:lt1>
      <a:dk2>
        <a:srgbClr val="0E1752"/>
      </a:dk2>
      <a:lt2>
        <a:srgbClr val="EEF3F8"/>
      </a:lt2>
      <a:accent1>
        <a:srgbClr val="00B8BC"/>
      </a:accent1>
      <a:accent2>
        <a:srgbClr val="2A30D6"/>
      </a:accent2>
      <a:accent3>
        <a:srgbClr val="D98E04"/>
      </a:accent3>
      <a:accent4>
        <a:srgbClr val="1F7A43"/>
      </a:accent4>
      <a:accent5>
        <a:srgbClr val="B3261E"/>
      </a:accent5>
      <a:accent6>
        <a:srgbClr val="8A93A8"/>
      </a:accent6>
      <a:hlink>
        <a:srgbClr val="2A30D6"/>
      </a:hlink>
      <a:folHlink>
        <a:srgbClr val="5B3AA6"/>
      </a:folHlink>
    </a:clrScheme>
    <a:fontScheme name="Azul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Grupo Azullab · Precios de Cuadre</dc:title>
  <dc:subject>PptxGenJS Presentation</dc:subject>
  <dc:creator>Josedaniel Guerrero</dc:creator>
  <cp:lastModifiedBy>Josedaniel Guerrero</cp:lastModifiedBy>
  <cp:revision>1</cp:revision>
  <dcterms:created xsi:type="dcterms:W3CDTF">2026-10-28T17:34:01Z</dcterms:created>
  <dcterms:modified xsi:type="dcterms:W3CDTF">2026-10-28T17:34:01Z</dcterms:modified>
</cp:coreProperties>
</file>