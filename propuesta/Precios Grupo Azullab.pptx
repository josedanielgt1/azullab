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ca385c79-88ee-06f5-ffa9-b79d50a7e355}">
          <p14:sldIdLst>
            <p14:sldId id="256"/>
          </p14:sldIdLst>
        </p14:section>
        <p14:section name="Qué trae" id="{f96942f2-4dc4-0a70-1afa-c89ad464be21}">
          <p14:sldIdLst>
            <p14:sldId id="257"/>
            <p14:sldId id="258"/>
          </p14:sldIdLst>
        </p14:section>
        <p14:section name="Precios de esta mañana" id="{fe8a1e83-6a07-4575-b540-a0989e19a05d}">
          <p14:sldIdLst>
            <p14:sldId id="259"/>
            <p14:sldId id="260"/>
          </p14:sldIdLst>
        </p14:section>
        <p14:section name="Tus dos opciones" id="{e7036a88-de9f-9223-924f-a633df2827ff}">
          <p14:sldIdLst>
            <p14:sldId id="261"/>
            <p14:sldId id="262"/>
          </p14:sldIdLst>
        </p14:section>
        <p14:section name="La diferencia" id="{57c8ceeb-c51b-faf8-fe52-c2d516247de3}">
          <p14:sldIdLst>
            <p14:sldId id="263"/>
            <p14:sldId id="264"/>
            <p14:sldId id="265"/>
            <p14:sldId id="266"/>
          </p14:sldIdLst>
        </p14:section>
        <p14:section name="Cierre" id="{c625cbf8-1640-1523-228a-04a4cf2ce6c9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E5A7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E5A73"/>
                </a:solidFill>
                <a:latin typeface="+mn-lt"/>
              </a:rPr>
              <a:t>Lo cobrado, acumulado (USD)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 mañana</c:v>
                </c:pt>
              </c:strCache>
            </c:strRef>
          </c:tx>
          <c:spPr>
            <a:solidFill>
              <a:srgbClr val="0E1752"/>
            </a:solidFill>
            <a:ln w="31750" cap="flat">
              <a:solidFill>
                <a:srgbClr val="0E17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1752"/>
              </a:solidFill>
              <a:ln w="9525" cap="flat">
                <a:solidFill>
                  <a:srgbClr val="0E17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Inicio</c:v>
                  </c:pt>
                  <c:pt idx="1">
                    <c:v>Mes 6</c:v>
                  </c:pt>
                  <c:pt idx="2">
                    <c:v>Mes 12</c:v>
                  </c:pt>
                  <c:pt idx="3">
                    <c:v>Mes 18</c:v>
                  </c:pt>
                  <c:pt idx="4">
                    <c:v>Mes 24</c:v>
                  </c:pt>
                  <c:pt idx="5">
                    <c:v>Mes 30</c:v>
                  </c:pt>
                  <c:pt idx="6">
                    <c:v>Mes 36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1350</c:v>
                </c:pt>
                <c:pt idx="1">
                  <c:v>2130</c:v>
                </c:pt>
                <c:pt idx="2">
                  <c:v>2910</c:v>
                </c:pt>
                <c:pt idx="3">
                  <c:v>3690</c:v>
                </c:pt>
                <c:pt idx="4">
                  <c:v>4470</c:v>
                </c:pt>
                <c:pt idx="5">
                  <c:v>5250</c:v>
                </c:pt>
                <c:pt idx="6">
                  <c:v>6030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Opción A</c:v>
                </c:pt>
              </c:strCache>
            </c:strRef>
          </c:tx>
          <c:spPr>
            <a:solidFill>
              <a:srgbClr val="2A30D6"/>
            </a:solidFill>
            <a:ln w="31750" cap="flat">
              <a:solidFill>
                <a:srgbClr val="2A30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30D6"/>
              </a:solidFill>
              <a:ln w="9525" cap="flat">
                <a:solidFill>
                  <a:srgbClr val="2A30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Inicio</c:v>
                  </c:pt>
                  <c:pt idx="1">
                    <c:v>Mes 6</c:v>
                  </c:pt>
                  <c:pt idx="2">
                    <c:v>Mes 12</c:v>
                  </c:pt>
                  <c:pt idx="3">
                    <c:v>Mes 18</c:v>
                  </c:pt>
                  <c:pt idx="4">
                    <c:v>Mes 24</c:v>
                  </c:pt>
                  <c:pt idx="5">
                    <c:v>Mes 30</c:v>
                  </c:pt>
                  <c:pt idx="6">
                    <c:v>Mes 36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540</c:v>
                </c:pt>
                <c:pt idx="2">
                  <c:v>1080</c:v>
                </c:pt>
                <c:pt idx="3">
                  <c:v>1620</c:v>
                </c:pt>
                <c:pt idx="4">
                  <c:v>2160</c:v>
                </c:pt>
                <c:pt idx="5">
                  <c:v>2700</c:v>
                </c:pt>
                <c:pt idx="6">
                  <c:v>3240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Opción B</c:v>
                </c:pt>
              </c:strCache>
            </c:strRef>
          </c:tx>
          <c:spPr>
            <a:solidFill>
              <a:srgbClr val="D98E04"/>
            </a:solidFill>
            <a:ln w="31750" cap="flat">
              <a:solidFill>
                <a:srgbClr val="D98E0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8E04"/>
              </a:solidFill>
              <a:ln w="9525" cap="flat">
                <a:solidFill>
                  <a:srgbClr val="D98E0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Inicio</c:v>
                  </c:pt>
                  <c:pt idx="1">
                    <c:v>Mes 6</c:v>
                  </c:pt>
                  <c:pt idx="2">
                    <c:v>Mes 12</c:v>
                  </c:pt>
                  <c:pt idx="3">
                    <c:v>Mes 18</c:v>
                  </c:pt>
                  <c:pt idx="4">
                    <c:v>Mes 24</c:v>
                  </c:pt>
                  <c:pt idx="5">
                    <c:v>Mes 30</c:v>
                  </c:pt>
                  <c:pt idx="6">
                    <c:v>Mes 36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550</c:v>
                </c:pt>
                <c:pt idx="1">
                  <c:v>760</c:v>
                </c:pt>
                <c:pt idx="2">
                  <c:v>970</c:v>
                </c:pt>
                <c:pt idx="3">
                  <c:v>1180</c:v>
                </c:pt>
                <c:pt idx="4">
                  <c:v>1390</c:v>
                </c:pt>
                <c:pt idx="5">
                  <c:v>1600</c:v>
                </c:pt>
                <c:pt idx="6">
                  <c:v>1810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A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7EF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A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Farmacia según la propuesta del 27-10-2026 (fase 1 $500, fase 2 $250 juntas; $45 al mes que pasan a $60 con la fase 2). El cálculo usa $60 los 12 meses y no descuenta el primer mes gratis de la farmacia. Laboratorio: $600 y $50 al mes. CrossFit: instalación regalada (vale $300) y $20 al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Supuesto: el CrossFit va gratis en las dos opciones, sin instalación y sin mensualidad. Opción A: $90 al mes por 12 meses. Opción B: $550 de instalación y $35 al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Opción B ajustada: $550 de instalación + ($35 + $25) x 36 meses = $2.710. Los costos de nube y soporte son una estimación; revisarlos con tus facturas reales del proveedor.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E17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FE9E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rgbClr val="0E17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FE9E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387"/>
                </a:solidFill>
              </a:rPr>
              <a:t>Grupo Azullab · Precios de Cuadre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Precios de Cuadre para el Grupo Azullab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Farmacia, Laboratorio y CrossFit · lo que trae, lo que se paga aparte y dos formas de pago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Josedaniel Guerrero · 28-10-2026 · precios en dólares, sin impuestos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Qué trae cada sistema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15184" cy="3383280"/>
          </a:xfrm>
          <a:prstGeom prst="roundRect">
            <a:avLst>
              <a:gd name="adj" fmla="val 279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371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Farmacia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65960"/>
            <a:ext cx="2240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con escáner, pagos mixtos y Cashea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Impresora fiscal: Reporte X y Z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por lote y vencimiento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Compras, ganancias, bancos e ISLR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del SENIAT y tasa BCV sola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73552" y="1188720"/>
            <a:ext cx="2615184" cy="3383280"/>
          </a:xfrm>
          <a:prstGeom prst="roundRect">
            <a:avLst>
              <a:gd name="adj" fmla="val 279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02152" y="1371600"/>
            <a:ext cx="384048" cy="384048"/>
          </a:xfrm>
          <a:prstGeom prst="ellipse">
            <a:avLst/>
          </a:prstGeom>
          <a:solidFill>
            <a:srgbClr val="2A30D6"/>
          </a:solidFill>
          <a:ln w="12700">
            <a:solidFill>
              <a:srgbClr val="2A30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0215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05072" y="1371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Laboratorio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02152" y="1965960"/>
            <a:ext cx="2240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del paciente y atención sin cita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 por tubo y sala de toma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con valores fuera de rango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firmado con QR por WhatsApp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 fiscal, libros y checklist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89904" y="1188720"/>
            <a:ext cx="2615184" cy="3383280"/>
          </a:xfrm>
          <a:prstGeom prst="roundRect">
            <a:avLst>
              <a:gd name="adj" fmla="val 279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18504" y="1371600"/>
            <a:ext cx="384048" cy="384048"/>
          </a:xfrm>
          <a:prstGeom prst="ellipse">
            <a:avLst/>
          </a:prstGeom>
          <a:solidFill>
            <a:srgbClr val="1F7A43"/>
          </a:solidFill>
          <a:ln w="12700">
            <a:solidFill>
              <a:srgbClr val="1F7A4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18504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21424" y="1371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CrossFit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318504" y="1965960"/>
            <a:ext cx="2240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Pizarra del día con cada movimiento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del socio: reserva y resultados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Membresías con aviso de vencimiento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con factura e IVA de 16 %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con cédula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 que el grupo paga aparte, no a Cuadre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017520" cy="3383280"/>
          </a:xfrm>
          <a:prstGeom prst="roundRect">
            <a:avLst>
              <a:gd name="adj" fmla="val 2424"/>
            </a:avLst>
          </a:prstGeom>
          <a:solidFill>
            <a:srgbClr val="0E1752"/>
          </a:solidFill>
          <a:ln w="12700">
            <a:solidFill>
              <a:srgbClr val="0E175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$2.100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688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impresoras fiscales, una por RIF, a unos $700 cada una (precio de referencia: cotizar con el distribuidor en Mérida)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compran una sola vez. No se paga nada por cada factura.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94760" y="1261872"/>
            <a:ext cx="292608" cy="29260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94760" y="1261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11887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Computadora o mini PC por caja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148132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Farmacia, Atención del laboratorio y recepción del box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94760" y="1947672"/>
            <a:ext cx="292608" cy="29260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94760" y="1947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18745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Lector de código de barras y gaveta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251960" y="216712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caja de la farmacia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794760" y="2633472"/>
            <a:ext cx="292608" cy="29260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94760" y="2633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25603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 por caja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251960" y="285292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luz falla en La Azulita; protege la impresora fiscal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94760" y="3319272"/>
            <a:ext cx="292608" cy="29260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947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2461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con respaldo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51960" y="353872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conexión principal y datos móviles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794760" y="4005072"/>
            <a:ext cx="292608" cy="29260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94760" y="4005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39319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Talonario y rollos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422452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Talonario de imprenta para fallas, papel térmico y servicio técnico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1 · Los precios de esta mañana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Instalación por sistema y mensualidad por sistema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Precios de esta mañana: $2.910 el primer año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005840"/>
                <a:gridCol w="11887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mes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Primer año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Farmacia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Fase 1 $500 + fase 2 $250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$1.470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Laboratorio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CrossFit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 $300: regalo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$1.350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$2.910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943600" y="118872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72200" y="13258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$2.910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172200" y="2103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año: instalación más 12 mensualidades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943600" y="292608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172200" y="3063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$1.560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6172200" y="3840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año desde el segundo: solo mensualidades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2 · Tus dos opciones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Sin pago inicial o con pago inicial; el CrossFit va gratis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Opción A sin pago inicial, opción B con pago inicial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83280"/>
          </a:xfrm>
          <a:prstGeom prst="roundRect">
            <a:avLst>
              <a:gd name="adj" fmla="val 2162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2A30D6"/>
          </a:solidFill>
          <a:ln w="12700">
            <a:solidFill>
              <a:srgbClr val="2A30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371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pago inicial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659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196596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3500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 al mes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2350008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73405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al mes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2734056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1181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CrossFit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3118104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593592"/>
            <a:ext cx="3520440" cy="0"/>
          </a:xfrm>
          <a:prstGeom prst="line">
            <a:avLst/>
          </a:prstGeom>
          <a:noFill/>
          <a:ln w="9525">
            <a:solidFill>
              <a:srgbClr val="8A93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año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A30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$1.080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1148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compromiso anual: 12 meses seguidos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1188720"/>
            <a:ext cx="3977640" cy="3383280"/>
          </a:xfrm>
          <a:prstGeom prst="roundRect">
            <a:avLst>
              <a:gd name="adj" fmla="val 2162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37760" y="1371600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37760" y="13716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897880" y="1371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pago inicial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4937760" y="19659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farmacia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0" y="196596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23500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laboratorio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2350008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937760" y="273405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Mensualidad farmacia + lab.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0" y="2734056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 + $15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31181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CrossFit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0" y="3118104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937760" y="3593592"/>
            <a:ext cx="3520440" cy="0"/>
          </a:xfrm>
          <a:prstGeom prst="line">
            <a:avLst/>
          </a:prstGeom>
          <a:noFill/>
          <a:ln w="9525">
            <a:solidFill>
              <a:srgbClr val="8A93A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93776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año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62940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$970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4937760" y="41148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renovación anual: mes a mes, se puede ir cuando quiera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3 · La diferencia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¿Estás regalando el trabajo?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3 años, la opción B cobra menos de un tercio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39496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126480" y="1097280"/>
            <a:ext cx="25603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09360" y="1188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$6.030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años con los precios de esta mañana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26480" y="2331720"/>
            <a:ext cx="25603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09360" y="2423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A30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$3.240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años con la opción A (-46 %)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26480" y="3566160"/>
            <a:ext cx="25603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09360" y="3657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$1.810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309360" y="4160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años con la opción B (-70 %)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Año por año, frente a los precios de esta mañana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219456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 mañana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Opción 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Opción 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 inicial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$1.350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Primer año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$2.910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$1.080  (-63 %)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$970  (-67 %)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año después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$1.080  (-31 %)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$420  (-73 %)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años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$6.030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$3.240  (-46 %)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$1.810  (-70 %)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opción A alcanza a la B en el mes 10 y desde ahí cobra $55 más cada mes. Pero la B no obliga a quedarse: si el cliente se va al mes 6, la A ya habría cobrado $540 y la B $760.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¿Estás regalando el trabajo?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rgbClr val="2A30D6"/>
          </a:solidFill>
          <a:ln w="12700">
            <a:solidFill>
              <a:srgbClr val="2A30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Opción A: no, si se firma el año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527048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 $3.240 en 3 años, 46 % menos que esta mañana. Sin pago inicial, tú cargas el costo de instalar los dos sistemas; el compromiso anual es lo que lo protege.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350008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350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30428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Opción B: sí, casi regalado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88336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 al mes por dos sistemas apenas cubre la nube, el respaldo, el soporte, las visitas a La Azulita y los cambios del SENIAT. Sin compromiso, el cliente puede pagar $550, quedarse unos meses e irse.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511296"/>
            <a:ext cx="502920" cy="502920"/>
          </a:xfrm>
          <a:prstGeom prst="ellipse">
            <a:avLst/>
          </a:prstGeom>
          <a:solidFill>
            <a:srgbClr val="1F7A43"/>
          </a:solidFill>
          <a:ln w="12700">
            <a:solidFill>
              <a:srgbClr val="1F7A4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46557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te recomiendo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849624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Ofrece la A como base. Si el cliente quiere pagar inicial, usa la B pero con mensualidad de $35 farmacia y $25 laboratorio, y mínimo 12 meses: son $2.710 en 3 años.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Opción A con compromiso anual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$50 farmacia + $40 laboratorio al mes, sin pago inicial, CrossFit gratis. Si piden pagar inicial: $300 + $250, con $35 + $25 al mes y mínimo 12 meses.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zullab">
  <a:themeElements>
    <a:clrScheme name="Azullab">
      <a:dk1>
        <a:srgbClr val="14183A"/>
      </a:dk1>
      <a:lt1>
        <a:srgbClr val="FFFFFF"/>
      </a:lt1>
      <a:dk2>
        <a:srgbClr val="0E1752"/>
      </a:dk2>
      <a:lt2>
        <a:srgbClr val="EEF3F8"/>
      </a:lt2>
      <a:accent1>
        <a:srgbClr val="00B8BC"/>
      </a:accent1>
      <a:accent2>
        <a:srgbClr val="2A30D6"/>
      </a:accent2>
      <a:accent3>
        <a:srgbClr val="D98E04"/>
      </a:accent3>
      <a:accent4>
        <a:srgbClr val="1F7A43"/>
      </a:accent4>
      <a:accent5>
        <a:srgbClr val="B3261E"/>
      </a:accent5>
      <a:accent6>
        <a:srgbClr val="8A93A8"/>
      </a:accent6>
      <a:hlink>
        <a:srgbClr val="2A30D6"/>
      </a:hlink>
      <a:folHlink>
        <a:srgbClr val="5B3AA6"/>
      </a:folHlink>
    </a:clrScheme>
    <a:fontScheme name="Azulla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Grupo Azullab · Precios de Cuadre</dc:title>
  <dc:subject>PptxGenJS Presentation</dc:subject>
  <dc:creator>Josedaniel Guerrero</dc:creator>
  <cp:lastModifiedBy>Josedaniel Guerrero</cp:lastModifiedBy>
  <cp:revision>1</cp:revision>
  <dcterms:created xsi:type="dcterms:W3CDTF">2026-10-28T16:57:10Z</dcterms:created>
  <dcterms:modified xsi:type="dcterms:W3CDTF">2026-10-28T16:57:10Z</dcterms:modified>
</cp:coreProperties>
</file>